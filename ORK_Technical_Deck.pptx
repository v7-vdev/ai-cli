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996206" y="1160711"/>
            <a:ext cx="1151439" cy="581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680"/>
              </a:spcBef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410303" y="2122587"/>
            <a:ext cx="43232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0"/>
              </a:spcBef>
              <a:spcAft>
                <a:spcPts val="2000"/>
              </a:spcAft>
              <a:buNone/>
            </a:pPr>
            <a:r>
              <a:rPr lang="en-US" sz="2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Trust-Oriented Orchestration Runtime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754078" y="2874913"/>
            <a:ext cx="1635696" cy="568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40"/>
              </a:lnSpc>
              <a:spcBef>
                <a:spcPts val="1600"/>
              </a:spcBef>
              <a:spcAft>
                <a:spcPts val="2000"/>
              </a:spcAft>
              <a:buNone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proposes.</a:t>
            </a:r>
            <a:endParaRPr lang="en-US" sz="1600" dirty="0"/>
          </a:p>
          <a:p>
            <a:pPr algn="ctr" indent="0" marL="0">
              <a:lnSpc>
                <a:spcPts val="2240"/>
              </a:lnSpc>
              <a:spcBef>
                <a:spcPts val="1600"/>
              </a:spcBef>
              <a:spcAft>
                <a:spcPts val="2000"/>
              </a:spcAft>
              <a:buNone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Humans approve.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939629" y="3697635"/>
            <a:ext cx="1264593" cy="371475"/>
          </a:xfrm>
          <a:prstGeom prst="roundRect">
            <a:avLst>
              <a:gd name="adj" fmla="val 20513"/>
            </a:avLst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101862" y="3792885"/>
            <a:ext cx="9401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v0.9.0-beta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653207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144"/>
              </a:spcBef>
              <a:spcAft>
                <a:spcPts val="1000"/>
              </a:spcAft>
              <a:buNone/>
            </a:pPr>
            <a:r>
              <a:rPr lang="en-US" sz="3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7950" y="1415504"/>
            <a:ext cx="829066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328"/>
              </a:spcBef>
              <a:spcAft>
                <a:spcPts val="2000"/>
              </a:spcAft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Developers increasingly rely on AI-assisted tooling, but many systems lack visibility.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7950" y="1907530"/>
            <a:ext cx="3937099" cy="2732038"/>
          </a:xfrm>
          <a:prstGeom prst="roundRect">
            <a:avLst>
              <a:gd name="adj" fmla="val 3719"/>
            </a:avLst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17500" y="2345680"/>
            <a:ext cx="358835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800"/>
              </a:spcBef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17500" y="2802731"/>
            <a:ext cx="3517999" cy="1563886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208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 execution paths</a:t>
            </a:r>
            <a:endParaRPr lang="en-US" sz="1600" dirty="0"/>
          </a:p>
          <a:p>
            <a:pPr algn="l" marL="127000" indent="-127000">
              <a:lnSpc>
                <a:spcPts val="208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Excessive autonomy</a:t>
            </a:r>
            <a:endParaRPr lang="en-US" sz="1600" dirty="0"/>
          </a:p>
          <a:p>
            <a:pPr algn="l" marL="127000" indent="-127000">
              <a:lnSpc>
                <a:spcPts val="208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Difficult debugging</a:t>
            </a:r>
            <a:endParaRPr lang="en-US" sz="1600" dirty="0"/>
          </a:p>
          <a:p>
            <a:pPr algn="l" marL="127000" indent="-127000">
              <a:lnSpc>
                <a:spcPts val="208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Reduced operator control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698950" y="1907530"/>
            <a:ext cx="3937099" cy="2732038"/>
          </a:xfrm>
          <a:prstGeom prst="roundRect">
            <a:avLst>
              <a:gd name="adj" fmla="val 3719"/>
            </a:avLst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908500" y="2345680"/>
            <a:ext cx="358835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800"/>
              </a:spcBef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Engineers Need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908500" y="2802731"/>
            <a:ext cx="3517999" cy="1563886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208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Explicit approval</a:t>
            </a:r>
            <a:endParaRPr lang="en-US" sz="1600" dirty="0"/>
          </a:p>
          <a:p>
            <a:pPr algn="l" marL="127000" indent="-127000">
              <a:lnSpc>
                <a:spcPts val="208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behavior</a:t>
            </a:r>
            <a:endParaRPr lang="en-US" sz="1600" dirty="0"/>
          </a:p>
          <a:p>
            <a:pPr algn="l" marL="127000" indent="-127000">
              <a:lnSpc>
                <a:spcPts val="208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execution visibility</a:t>
            </a:r>
            <a:endParaRPr lang="en-US" sz="1600" dirty="0"/>
          </a:p>
          <a:p>
            <a:pPr algn="l" marL="127000" indent="-127000">
              <a:lnSpc>
                <a:spcPts val="208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trust boundaries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653207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144"/>
              </a:spcBef>
              <a:spcAft>
                <a:spcPts val="1000"/>
              </a:spcAft>
              <a:buNone/>
            </a:pPr>
            <a:r>
              <a:rPr lang="en-US" sz="3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ORK?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7950" y="1415504"/>
            <a:ext cx="829066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328"/>
              </a:spcBef>
              <a:spcAft>
                <a:spcPts val="2000"/>
              </a:spcAft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Local-first orchestration runtime designed for reviewable and controlled execution.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7950" y="2034480"/>
            <a:ext cx="8128099" cy="2537520"/>
          </a:xfrm>
          <a:prstGeom prst="roundRect">
            <a:avLst>
              <a:gd name="adj" fmla="val 4004"/>
            </a:avLst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17500" y="2307431"/>
            <a:ext cx="7708999" cy="1954857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208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AI-assisted planning:</a:t>
            </a:r>
            <a:pPr algn="l" indent="0" marL="0">
              <a:lnSpc>
                <a:spcPts val="208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Complex shell/file operations generated locally.</a:t>
            </a:r>
            <a:endParaRPr lang="en-US" sz="1600" dirty="0"/>
          </a:p>
          <a:p>
            <a:pPr algn="l" marL="127000" indent="-127000">
              <a:lnSpc>
                <a:spcPts val="208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approval gates:</a:t>
            </a:r>
            <a:pPr algn="l" indent="0" marL="0">
              <a:lnSpc>
                <a:spcPts val="208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Interactive TUI requiring explicit validation.</a:t>
            </a:r>
            <a:endParaRPr lang="en-US" sz="1600" dirty="0"/>
          </a:p>
          <a:p>
            <a:pPr algn="l" marL="127000" indent="-127000">
              <a:lnSpc>
                <a:spcPts val="208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MODE</a:t>
            </a:r>
            <a:pPr algn="l" indent="0" marL="0">
              <a:lnSpc>
                <a:spcPts val="208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2080"/>
              </a:lnSpc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default:</a:t>
            </a:r>
            <a:pPr algn="l" indent="0" marL="0">
              <a:lnSpc>
                <a:spcPts val="208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Immutable operations until authorized.</a:t>
            </a:r>
            <a:endParaRPr lang="en-US" sz="1600" dirty="0"/>
          </a:p>
          <a:p>
            <a:pPr algn="l" marL="127000" indent="-127000">
              <a:lnSpc>
                <a:spcPts val="208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execution:</a:t>
            </a:r>
            <a:pPr algn="l" indent="0" marL="0">
              <a:lnSpc>
                <a:spcPts val="208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Predictable, step-by-step pipeline resolution.</a:t>
            </a:r>
            <a:endParaRPr lang="en-US" sz="1600" dirty="0"/>
          </a:p>
          <a:p>
            <a:pPr algn="l" marL="127000" indent="-127000">
              <a:lnSpc>
                <a:spcPts val="208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Telemetry-free operation:</a:t>
            </a:r>
            <a:pPr algn="l" indent="0" marL="0">
              <a:lnSpc>
                <a:spcPts val="208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 tracking, no cloud abstractions.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653207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144"/>
              </a:spcBef>
              <a:spcAft>
                <a:spcPts val="1000"/>
              </a:spcAft>
              <a:buNone/>
            </a:pPr>
            <a:r>
              <a:rPr lang="en-US" sz="3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Philosophy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7950" y="1415504"/>
            <a:ext cx="829066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328"/>
              </a:spcBef>
              <a:spcAft>
                <a:spcPts val="2000"/>
              </a:spcAft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MODE by default.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597200" y="1907530"/>
            <a:ext cx="3949601" cy="339626"/>
          </a:xfrm>
          <a:prstGeom prst="roundRect">
            <a:avLst>
              <a:gd name="adj" fmla="val 14958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628900" y="1977330"/>
            <a:ext cx="3886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Proposal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26669" y="2272457"/>
            <a:ext cx="82906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597200" y="2469207"/>
            <a:ext cx="3949601" cy="339626"/>
          </a:xfrm>
          <a:prstGeom prst="roundRect">
            <a:avLst>
              <a:gd name="adj" fmla="val 14958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628900" y="2539008"/>
            <a:ext cx="3886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Review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26669" y="2834134"/>
            <a:ext cx="82906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597200" y="3030885"/>
            <a:ext cx="3949601" cy="339626"/>
          </a:xfrm>
          <a:prstGeom prst="roundRect">
            <a:avLst>
              <a:gd name="adj" fmla="val 14958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628900" y="3100685"/>
            <a:ext cx="3886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Explicit Approval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6669" y="3395811"/>
            <a:ext cx="82906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597200" y="3592562"/>
            <a:ext cx="3949601" cy="339626"/>
          </a:xfrm>
          <a:prstGeom prst="roundRect">
            <a:avLst>
              <a:gd name="adj" fmla="val 14958"/>
            </a:avLst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628900" y="3662362"/>
            <a:ext cx="3886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955750" y="4020889"/>
            <a:ext cx="5232350" cy="361950"/>
          </a:xfrm>
          <a:prstGeom prst="roundRect">
            <a:avLst>
              <a:gd name="adj" fmla="val 14035"/>
            </a:avLst>
          </a:prstGeom>
          <a:solidFill>
            <a:srgbClr val="38BD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981151" y="4097089"/>
            <a:ext cx="518154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never occurs silently.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653207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144"/>
              </a:spcBef>
              <a:spcAft>
                <a:spcPts val="1000"/>
              </a:spcAft>
              <a:buNone/>
            </a:pPr>
            <a:r>
              <a:rPr lang="en-US" sz="3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7950" y="1415504"/>
            <a:ext cx="829066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328"/>
              </a:spcBef>
              <a:spcAft>
                <a:spcPts val="2000"/>
              </a:spcAft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Rigid, transparent infrastructure.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2336" y="1958280"/>
            <a:ext cx="818713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80570" y="2205782"/>
            <a:ext cx="82906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61851" y="2402532"/>
            <a:ext cx="8128099" cy="311051"/>
          </a:xfrm>
          <a:prstGeom prst="roundRect">
            <a:avLst>
              <a:gd name="adj" fmla="val 16332"/>
            </a:avLst>
          </a:prstGeom>
          <a:solidFill>
            <a:srgbClr val="1E293B"/>
          </a:solidFill>
          <a:ln w="19050">
            <a:solidFill>
              <a:srgbClr val="F8FAF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51767" y="2472333"/>
            <a:ext cx="814826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ORK Runtime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0570" y="2738884"/>
            <a:ext cx="82906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61851" y="2935635"/>
            <a:ext cx="8128099" cy="311051"/>
          </a:xfrm>
          <a:prstGeom prst="roundRect">
            <a:avLst>
              <a:gd name="adj" fmla="val 1633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761851" y="2945160"/>
            <a:ext cx="8128099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80425" y="2935635"/>
            <a:ext cx="0" cy="311051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1851" y="3237161"/>
            <a:ext cx="8128099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9951" y="2935635"/>
            <a:ext cx="0" cy="311051"/>
          </a:xfrm>
          <a:prstGeom prst="line">
            <a:avLst/>
          </a:prstGeom>
          <a:noFill/>
          <a:ln w="76200">
            <a:solidFill>
              <a:srgbClr val="38BD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8802" y="3005435"/>
            <a:ext cx="284982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Planning Engine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821960" y="3010198"/>
            <a:ext cx="101815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AI proposes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80570" y="3271986"/>
            <a:ext cx="82906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61851" y="3468737"/>
            <a:ext cx="8128099" cy="311051"/>
          </a:xfrm>
          <a:prstGeom prst="roundRect">
            <a:avLst>
              <a:gd name="adj" fmla="val 1633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761851" y="3478262"/>
            <a:ext cx="8128099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880425" y="3468737"/>
            <a:ext cx="0" cy="311051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1851" y="3770263"/>
            <a:ext cx="8128099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99951" y="3468737"/>
            <a:ext cx="0" cy="311051"/>
          </a:xfrm>
          <a:prstGeom prst="line">
            <a:avLst/>
          </a:prstGeom>
          <a:noFill/>
          <a:ln w="762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8802" y="3538538"/>
            <a:ext cx="284982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Gate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591723" y="3543300"/>
            <a:ext cx="125299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Human approves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80570" y="3805089"/>
            <a:ext cx="82906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61851" y="4001839"/>
            <a:ext cx="8128099" cy="311051"/>
          </a:xfrm>
          <a:prstGeom prst="roundRect">
            <a:avLst>
              <a:gd name="adj" fmla="val 1633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761851" y="4011364"/>
            <a:ext cx="8128099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880425" y="4001839"/>
            <a:ext cx="0" cy="311051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1851" y="4303365"/>
            <a:ext cx="8128099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9951" y="4001839"/>
            <a:ext cx="0" cy="311051"/>
          </a:xfrm>
          <a:prstGeom prst="line">
            <a:avLst/>
          </a:prstGeom>
          <a:noFill/>
          <a:ln w="76200">
            <a:solidFill>
              <a:srgbClr val="4ADE8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8802" y="4071640"/>
            <a:ext cx="284982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Pipeline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900714" y="4076402"/>
            <a:ext cx="195782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Deterministic execution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80570" y="4338191"/>
            <a:ext cx="82906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61851" y="4534942"/>
            <a:ext cx="8128099" cy="311051"/>
          </a:xfrm>
          <a:prstGeom prst="roundRect">
            <a:avLst>
              <a:gd name="adj" fmla="val 16332"/>
            </a:avLst>
          </a:prstGeom>
          <a:noFill/>
          <a:ln w="19050">
            <a:solidFill>
              <a:srgbClr val="64748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751767" y="4604742"/>
            <a:ext cx="814826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Tools (File System, Git, NPM)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653207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144"/>
              </a:spcBef>
              <a:spcAft>
                <a:spcPts val="1000"/>
              </a:spcAft>
              <a:buNone/>
            </a:pPr>
            <a:r>
              <a:rPr lang="en-US" sz="3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Hardening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7950" y="1415504"/>
            <a:ext cx="829066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328"/>
              </a:spcBef>
              <a:spcAft>
                <a:spcPts val="2000"/>
              </a:spcAft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safeguards designed to reduce unintended execution risk.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7950" y="2034480"/>
            <a:ext cx="8128099" cy="2537520"/>
          </a:xfrm>
          <a:prstGeom prst="roundRect">
            <a:avLst>
              <a:gd name="adj" fmla="val 4004"/>
            </a:avLst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17500" y="2307431"/>
            <a:ext cx="7708999" cy="1563886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208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Boundaries:</a:t>
            </a:r>
            <a:pPr algn="l" indent="0" marL="0">
              <a:lnSpc>
                <a:spcPts val="208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Strict directory limits prevent path traversal escapes.</a:t>
            </a:r>
            <a:endParaRPr lang="en-US" sz="1600" dirty="0"/>
          </a:p>
          <a:p>
            <a:pPr algn="l" marL="127000" indent="-127000">
              <a:lnSpc>
                <a:spcPts val="208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 Redaction:</a:t>
            </a:r>
            <a:pPr algn="l" indent="0" marL="0">
              <a:lnSpc>
                <a:spcPts val="208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Active filtering of `.env` strings in stdout.</a:t>
            </a:r>
            <a:endParaRPr lang="en-US" sz="1600" dirty="0"/>
          </a:p>
          <a:p>
            <a:pPr algn="l" marL="127000" indent="-127000">
              <a:lnSpc>
                <a:spcPts val="208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Writes:</a:t>
            </a:r>
            <a:pPr algn="l" indent="0" marL="0">
              <a:lnSpc>
                <a:spcPts val="208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Safe configuration persistence dodging OS locks.</a:t>
            </a:r>
            <a:endParaRPr lang="en-US" sz="1600" dirty="0"/>
          </a:p>
          <a:p>
            <a:pPr algn="l" marL="127000" indent="-127000">
              <a:lnSpc>
                <a:spcPts val="208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Cleanup:</a:t>
            </a:r>
            <a:pPr algn="l" indent="0" marL="0">
              <a:lnSpc>
                <a:spcPts val="208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Aggressive SIGKILL/taskkill on orphaned execution trees.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653207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144"/>
              </a:spcBef>
              <a:spcAft>
                <a:spcPts val="1000"/>
              </a:spcAft>
              <a:buNone/>
            </a:pPr>
            <a:r>
              <a:rPr lang="en-US" sz="3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 Hardening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7950" y="1415504"/>
            <a:ext cx="829066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328"/>
              </a:spcBef>
              <a:spcAft>
                <a:spcPts val="2000"/>
              </a:spcAft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 to survive interruption, corruption, and runtime instability.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7950" y="2034480"/>
            <a:ext cx="8128099" cy="2537520"/>
          </a:xfrm>
          <a:prstGeom prst="roundRect">
            <a:avLst>
              <a:gd name="adj" fmla="val 4004"/>
            </a:avLst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17500" y="2307431"/>
            <a:ext cx="7708999" cy="1563886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208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Limiter:</a:t>
            </a:r>
            <a:pPr algn="l" indent="0" marL="0">
              <a:lnSpc>
                <a:spcPts val="208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Global semaphores prevent parallel OOM crashes.</a:t>
            </a:r>
            <a:endParaRPr lang="en-US" sz="1600" dirty="0"/>
          </a:p>
          <a:p>
            <a:pPr algn="l" marL="127000" indent="-127000">
              <a:lnSpc>
                <a:spcPts val="208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 Recovery:</a:t>
            </a:r>
            <a:pPr algn="l" indent="0" marL="0">
              <a:lnSpc>
                <a:spcPts val="208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Automatic isolation and self-healing `.corrupt` configurations.</a:t>
            </a:r>
            <a:endParaRPr lang="en-US" sz="1600" dirty="0"/>
          </a:p>
          <a:p>
            <a:pPr algn="l" marL="127000" indent="-127000">
              <a:lnSpc>
                <a:spcPts val="208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Restoration:</a:t>
            </a:r>
            <a:pPr algn="l" indent="0" marL="0">
              <a:lnSpc>
                <a:spcPts val="208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Guaranteed ANSI cursor reset on fatal exit.</a:t>
            </a:r>
            <a:endParaRPr lang="en-US" sz="1600" dirty="0"/>
          </a:p>
          <a:p>
            <a:pPr algn="l" marL="127000" indent="-127000">
              <a:lnSpc>
                <a:spcPts val="208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Resilience:</a:t>
            </a:r>
            <a:pPr algn="l" indent="0" marL="0">
              <a:lnSpc>
                <a:spcPts val="208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Async streams survive malformed JSON payloads.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653207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144"/>
              </a:spcBef>
              <a:spcAft>
                <a:spcPts val="1000"/>
              </a:spcAft>
              <a:buNone/>
            </a:pPr>
            <a:r>
              <a:rPr lang="en-US" sz="3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Execution Flow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7950" y="1415504"/>
            <a:ext cx="829066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328"/>
              </a:spcBef>
              <a:spcAft>
                <a:spcPts val="2000"/>
              </a:spcAft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Terminal-native visibility.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7950" y="1907530"/>
            <a:ext cx="8128099" cy="2854970"/>
          </a:xfrm>
          <a:prstGeom prst="roundRect">
            <a:avLst>
              <a:gd name="adj" fmla="val 2669"/>
            </a:avLst>
          </a:prstGeom>
          <a:solidFill>
            <a:srgbClr val="020617"/>
          </a:solidFill>
          <a:ln w="19050">
            <a:solidFill>
              <a:srgbClr val="1E293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9400" y="2078980"/>
            <a:ext cx="79409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ork init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79400" y="2307580"/>
            <a:ext cx="79409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[ORK] Initializing workspace...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79400" y="2717155"/>
            <a:ext cx="79409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ork "Install express and run dev server"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79400" y="2945755"/>
            <a:ext cx="79409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[ORK]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SAFE MODE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enabled. Planning execution...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79400" y="3174355"/>
            <a:ext cx="79409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[ORK] Proposed Action: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runCommand(npm install express)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79400" y="3402955"/>
            <a:ext cx="79409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[ORK] Awaiting approval (Y/n): 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79400" y="3631555"/>
            <a:ext cx="79409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[ORK] Execution complete.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79400" y="4041130"/>
            <a:ext cx="79409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^C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9400" y="4269730"/>
            <a:ext cx="79409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[ORK] Interruption trapped. Cleaning up subprocesses...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Clean exit.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653207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144"/>
              </a:spcBef>
              <a:spcAft>
                <a:spcPts val="1000"/>
              </a:spcAft>
              <a:buNone/>
            </a:pPr>
            <a:r>
              <a:rPr lang="en-US" sz="3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Technical Validation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7950" y="1415504"/>
            <a:ext cx="829066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328"/>
              </a:spcBef>
              <a:spcAft>
                <a:spcPts val="2000"/>
              </a:spcAft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project state and testing priorities.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7950" y="2059930"/>
            <a:ext cx="82906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7950" y="2294781"/>
            <a:ext cx="1379786" cy="311051"/>
          </a:xfrm>
          <a:prstGeom prst="roundRect">
            <a:avLst>
              <a:gd name="adj" fmla="val 16332"/>
            </a:avLst>
          </a:prstGeom>
          <a:solidFill>
            <a:srgbClr val="38BD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60350" y="2345531"/>
            <a:ext cx="109648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v0.9.0-beta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7950" y="2885033"/>
            <a:ext cx="82906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FOCUS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7950" y="3119884"/>
            <a:ext cx="8128099" cy="1827907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208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Testing (Antivirus locks, taskkill)</a:t>
            </a:r>
            <a:endParaRPr lang="en-US" sz="1600" dirty="0"/>
          </a:p>
          <a:p>
            <a:pPr algn="l" marL="127000" indent="-127000">
              <a:lnSpc>
                <a:spcPts val="208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Stability (Event-loop non-blocking)</a:t>
            </a:r>
            <a:endParaRPr lang="en-US" sz="1600" dirty="0"/>
          </a:p>
          <a:p>
            <a:pPr algn="l" marL="127000" indent="-127000">
              <a:lnSpc>
                <a:spcPts val="208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Repositories (100k+ file symlink resolution)</a:t>
            </a:r>
            <a:endParaRPr lang="en-US" sz="1600" dirty="0"/>
          </a:p>
          <a:p>
            <a:pPr algn="l" marL="127000" indent="-127000">
              <a:lnSpc>
                <a:spcPts val="208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Switching (Groq, Anthropic, Gemini)</a:t>
            </a:r>
            <a:endParaRPr lang="en-US" sz="1600" dirty="0"/>
          </a:p>
          <a:p>
            <a:pPr algn="l" marL="127000" indent="-127000">
              <a:lnSpc>
                <a:spcPts val="208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 Feedback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653207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144"/>
              </a:spcBef>
              <a:spcAft>
                <a:spcPts val="1000"/>
              </a:spcAft>
              <a:buNone/>
            </a:pPr>
            <a:r>
              <a:rPr lang="en-US" sz="3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Technical Validation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7950" y="1415504"/>
            <a:ext cx="829066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328"/>
              </a:spcBef>
              <a:spcAft>
                <a:spcPts val="2000"/>
              </a:spcAft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 validate ORK in real-world environments.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7950" y="2059930"/>
            <a:ext cx="38766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7950" y="2536031"/>
            <a:ext cx="387663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7950" y="2808982"/>
            <a:ext cx="387663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https://github.com/v7-vdev/ai-cli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7950" y="3272433"/>
            <a:ext cx="387663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Discord: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7950" y="3545384"/>
            <a:ext cx="387663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https://discord.gg/mJWFajpfgk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0" y="1907530"/>
            <a:ext cx="0" cy="2854970"/>
          </a:xfrm>
          <a:prstGeom prst="line">
            <a:avLst/>
          </a:prstGeom>
          <a:noFill/>
          <a:ln w="1905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35426" y="2059930"/>
            <a:ext cx="38766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LOOKING FOR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35426" y="2358330"/>
            <a:ext cx="3800624" cy="1563886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208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Testers</a:t>
            </a:r>
            <a:endParaRPr lang="en-US" sz="1600" dirty="0"/>
          </a:p>
          <a:p>
            <a:pPr algn="l" marL="127000" indent="-127000">
              <a:lnSpc>
                <a:spcPts val="208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Reports</a:t>
            </a:r>
            <a:endParaRPr lang="en-US" sz="1600" dirty="0"/>
          </a:p>
          <a:p>
            <a:pPr algn="l" marL="127000" indent="-127000">
              <a:lnSpc>
                <a:spcPts val="208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 Feedback</a:t>
            </a:r>
            <a:endParaRPr lang="en-US" sz="1600" dirty="0"/>
          </a:p>
          <a:p>
            <a:pPr algn="l" marL="127000" indent="-127000">
              <a:lnSpc>
                <a:spcPts val="208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Open-Source Contributors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ORK Technical Presentation</dc:title>
  <dc:subject>PptxGenJS Presentation</dc:subject>
  <dc:creator>ORK Core Team</dc:creator>
  <cp:lastModifiedBy>ORK Core Team</cp:lastModifiedBy>
  <cp:revision>1</cp:revision>
  <dcterms:created xsi:type="dcterms:W3CDTF">2026-05-30T03:47:59Z</dcterms:created>
  <dcterms:modified xsi:type="dcterms:W3CDTF">2026-05-30T03:47:59Z</dcterms:modified>
</cp:coreProperties>
</file>